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600" b="0" i="0" u="none" strike="noStrike">
                <a:solidFill>
                  <a:srgbClr val="000000"/>
                </a:solidFill>
                <a:latin typeface="Arial"/>
              </a:rPr>
              <a:t>Sample expense distribution by category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Expenses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3A5F"/>
              </a:solidFill>
              <a:effectLst/>
            </c:spPr>
          </c:dPt>
          <c:dPt>
            <c:idx val="1"/>
            <c:bubble3D val="0"/>
            <c:spPr>
              <a:solidFill>
                <a:srgbClr val="2E86AB"/>
              </a:solidFill>
              <a:effectLst/>
            </c:spPr>
          </c:dPt>
          <c:dPt>
            <c:idx val="2"/>
            <c:bubble3D val="0"/>
            <c:spPr>
              <a:solidFill>
                <a:srgbClr val="5E9EA0"/>
              </a:solidFill>
              <a:effectLst/>
            </c:spPr>
          </c:dPt>
          <c:dPt>
            <c:idx val="3"/>
            <c:bubble3D val="0"/>
            <c:spPr>
              <a:solidFill>
                <a:srgbClr val="8B4513"/>
              </a:solidFill>
              <a:effectLst/>
            </c:spPr>
          </c:dPt>
          <c:dPt>
            <c:idx val="4"/>
            <c:bubble3D val="0"/>
            <c:spPr>
              <a:solidFill>
                <a:srgbClr val="228B22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Food</c:v>
                </c:pt>
                <c:pt idx="1">
                  <c:v>Transport</c:v>
                </c:pt>
                <c:pt idx="2">
                  <c:v>Housing</c:v>
                </c:pt>
                <c:pt idx="3">
                  <c:v>Entertainment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32</c:v>
                </c:pt>
                <c:pt idx="1">
                  <c:v>18</c:v>
                </c:pt>
                <c:pt idx="2">
                  <c:v>28</c:v>
                </c:pt>
                <c:pt idx="3">
                  <c:v>12</c:v>
                </c:pt>
                <c:pt idx="4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0"/>
            <a:ext cx="91440" cy="68580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48640"/>
            <a:ext cx="457200" cy="640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32918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FinDash — Personal Budget Analytics Dashboard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5029200"/>
            <a:ext cx="1097280" cy="64008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-914400"/>
            <a:ext cx="4114800" cy="4114800"/>
          </a:xfrm>
          <a:prstGeom prst="ellipse">
            <a:avLst/>
          </a:prstGeom>
          <a:solidFill>
            <a:srgbClr val="1E3A5F">
              <a:alpha val="1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4114800"/>
            <a:ext cx="2286000" cy="2286000"/>
          </a:xfrm>
          <a:prstGeom prst="ellipse">
            <a:avLst/>
          </a:prstGeom>
          <a:solidFill>
            <a:srgbClr val="2E86AB">
              <a:alpha val="15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228600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SPA for Financial Control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  ·  2026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297680" y="2103120"/>
            <a:ext cx="914400" cy="457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8408"/>
            <a:ext cx="914400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Project Goal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739128"/>
            <a:ext cx="9144000" cy="73152"/>
          </a:xfrm>
          <a:prstGeom prst="rect">
            <a:avLst/>
          </a:prstGeom>
          <a:solidFill>
            <a:srgbClr val="2E86AB">
              <a:alpha val="5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51560"/>
            <a:ext cx="64008" cy="5623560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850392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Difficulty tracking personal finances in spreadsheets, lack of visual analytics, no mobile access</a:t>
            </a:r>
            <a:endParaRPr lang="en-US" sz="18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Create a convenient, fast, visually clear tool for daily budget control</a:t>
            </a:r>
            <a:endParaRPr lang="en-US" sz="18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focus: The project solves a real-life need, similar to T‑Bank products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8408"/>
            <a:ext cx="914400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739128"/>
            <a:ext cx="9144000" cy="73152"/>
          </a:xfrm>
          <a:prstGeom prst="rect">
            <a:avLst/>
          </a:prstGeom>
          <a:solidFill>
            <a:srgbClr val="2E86AB">
              <a:alpha val="5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51560"/>
            <a:ext cx="64008" cy="5623560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850392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&amp; data sync across devices</a:t>
            </a:r>
            <a:endParaRPr lang="en-US" sz="18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 for transactions (income/expense)</a:t>
            </a:r>
            <a:endParaRPr lang="en-US" sz="18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charts (spending dynamics, category breakdown)</a:t>
            </a:r>
            <a:endParaRPr lang="en-US" sz="18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filtering by category &amp; time periods</a:t>
            </a:r>
            <a:endParaRPr lang="en-US" sz="18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Drag‑and‑Drop: Custom category ordering &amp; dashboard layout</a:t>
            </a:r>
            <a:endParaRPr lang="en-US" sz="18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 for reports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8408"/>
            <a:ext cx="914400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Tech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739128"/>
            <a:ext cx="9144000" cy="73152"/>
          </a:xfrm>
          <a:prstGeom prst="rect">
            <a:avLst/>
          </a:prstGeom>
          <a:solidFill>
            <a:srgbClr val="2E86AB">
              <a:alpha val="5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51560"/>
            <a:ext cx="64008" cy="5623560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850392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 (Hooks, Functional Components)</a:t>
            </a:r>
            <a:endParaRPr lang="en-US" sz="18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Toolkit + React Query (State &amp; Caching)</a:t>
            </a:r>
            <a:endParaRPr lang="en-US" sz="18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v6 with Lazy Loading (Code Splitting)</a:t>
            </a:r>
            <a:endParaRPr lang="en-US" sz="18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Modules (Responsive, mobile-first)</a:t>
            </a:r>
            <a:endParaRPr lang="en-US" sz="18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(Data visualization)</a:t>
            </a:r>
            <a:endParaRPr lang="en-US" sz="18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@dnd-kit/core (Drag-and-Drop)</a:t>
            </a:r>
            <a:endParaRPr lang="en-US" sz="18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+ React Testing Library (Testing)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8408"/>
            <a:ext cx="914400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Tech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739128"/>
            <a:ext cx="9144000" cy="73152"/>
          </a:xfrm>
          <a:prstGeom prst="rect">
            <a:avLst/>
          </a:prstGeom>
          <a:solidFill>
            <a:srgbClr val="2E86AB">
              <a:alpha val="5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51560"/>
            <a:ext cx="64008" cy="5623560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850392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(TypeScript)</a:t>
            </a:r>
            <a:endParaRPr lang="en-US" sz="18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with Prisma ORM</a:t>
            </a:r>
            <a:endParaRPr lang="en-US" sz="18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(Access + Refresh tokens)</a:t>
            </a:r>
            <a:endParaRPr lang="en-US" sz="18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(Password hashing)</a:t>
            </a:r>
            <a:endParaRPr lang="en-US" sz="18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(Validation, shared types with frontend)</a:t>
            </a:r>
            <a:endParaRPr lang="en-US" sz="18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+ Supertest (API testing)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8408"/>
            <a:ext cx="914400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Security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739128"/>
            <a:ext cx="9144000" cy="73152"/>
          </a:xfrm>
          <a:prstGeom prst="rect">
            <a:avLst/>
          </a:prstGeom>
          <a:solidFill>
            <a:srgbClr val="2E86AB">
              <a:alpha val="5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34840" y="1143000"/>
            <a:ext cx="45720" cy="5394960"/>
          </a:xfrm>
          <a:prstGeom prst="rect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61688" y="3749040"/>
            <a:ext cx="192024" cy="192024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43000"/>
            <a:ext cx="4023360" cy="457200"/>
          </a:xfrm>
          <a:prstGeom prst="rect">
            <a:avLst/>
          </a:prstGeom>
          <a:solidFill>
            <a:srgbClr val="2E86AB">
              <a:alpha val="8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43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74320" y="1691640"/>
            <a:ext cx="4023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Bef>
                <a:spcPts val="500"/>
              </a:spcBef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Feature-based frontend</a:t>
            </a:r>
            <a:endParaRPr lang="en-US" sz="1600" dirty="0"/>
          </a:p>
          <a:p>
            <a:pPr marL="190500" indent="-190500">
              <a:spcBef>
                <a:spcPts val="500"/>
              </a:spcBef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backend (Controller–Service–Repository)</a:t>
            </a:r>
            <a:endParaRPr lang="en-US" sz="1600" dirty="0"/>
          </a:p>
          <a:p>
            <a:pPr marL="190500" indent="-190500">
              <a:spcBef>
                <a:spcPts val="500"/>
              </a:spcBef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types package for FE/BE sync</a:t>
            </a:r>
            <a:endParaRPr lang="en-US" sz="1600" dirty="0"/>
          </a:p>
          <a:p>
            <a:pPr marL="190500" indent="-190500">
              <a:spcBef>
                <a:spcPts val="500"/>
              </a:spcBef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Query for server state, Redux for client state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46320" y="1143000"/>
            <a:ext cx="4023360" cy="457200"/>
          </a:xfrm>
          <a:prstGeom prst="rect">
            <a:avLst/>
          </a:prstGeom>
          <a:solidFill>
            <a:srgbClr val="2E86AB">
              <a:alpha val="8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143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46320" y="1691640"/>
            <a:ext cx="4023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Bef>
                <a:spcPts val="500"/>
              </a:spcBef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protects all endpoints except /auth</a:t>
            </a:r>
            <a:endParaRPr lang="en-US" sz="1600" dirty="0"/>
          </a:p>
          <a:p>
            <a:pPr marL="190500" indent="-190500">
              <a:spcBef>
                <a:spcPts val="500"/>
              </a:spcBef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+ refresh token rotation</a:t>
            </a:r>
            <a:endParaRPr lang="en-US" sz="1600" dirty="0"/>
          </a:p>
          <a:p>
            <a:pPr marL="190500" indent="-190500">
              <a:spcBef>
                <a:spcPts val="500"/>
              </a:spcBef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600" dirty="0"/>
          </a:p>
          <a:p>
            <a:pPr marL="190500" indent="-190500">
              <a:spcBef>
                <a:spcPts val="500"/>
              </a:spcBef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User-scoped data isolation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8408"/>
            <a:ext cx="914400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&amp; Categories (CRUD)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739128"/>
            <a:ext cx="9144000" cy="73152"/>
          </a:xfrm>
          <a:prstGeom prst="rect">
            <a:avLst/>
          </a:prstGeom>
          <a:solidFill>
            <a:srgbClr val="2E86AB">
              <a:alpha val="5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51560"/>
            <a:ext cx="64008" cy="5623560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850392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edit, delete transactions with amount, type, category, date, comment</a:t>
            </a:r>
            <a:endParaRPr lang="en-US" sz="18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Pre-defined categories (Food, Transport, Salary) + custom user categories</a:t>
            </a:r>
            <a:endParaRPr lang="en-US" sz="18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delete for categories without linked transactions</a:t>
            </a:r>
            <a:endParaRPr lang="en-US" sz="18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Drag‑and‑Drop: Reorder categories in list and pie chart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8408"/>
            <a:ext cx="914400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Charts &amp; Analytics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739128"/>
            <a:ext cx="9144000" cy="73152"/>
          </a:xfrm>
          <a:prstGeom prst="rect">
            <a:avLst/>
          </a:prstGeom>
          <a:solidFill>
            <a:srgbClr val="2E86AB">
              <a:alpha val="50000"/>
            </a:srgbClr>
          </a:solidFill>
          <a:ln w="12700">
            <a:solidFill>
              <a:srgbClr val="2E86AB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457200" y="1188720"/>
          <a:ext cx="822960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8408"/>
            <a:ext cx="914400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Customization with Drag‑and‑Drop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739128"/>
            <a:ext cx="9144000" cy="73152"/>
          </a:xfrm>
          <a:prstGeom prst="rect">
            <a:avLst/>
          </a:prstGeom>
          <a:solidFill>
            <a:srgbClr val="2E86AB">
              <a:alpha val="5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51560"/>
            <a:ext cx="64008" cy="5623560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850392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rearrange widgets (charts, summary, transaction list)</a:t>
            </a:r>
            <a:endParaRPr lang="en-US" sz="18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Technology: @dnd-kit/core for smooth touch interactions</a:t>
            </a:r>
            <a:endParaRPr lang="en-US" sz="18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Persistence: Layout saved to backend after each drag operation</a:t>
            </a:r>
            <a:endParaRPr lang="en-US" sz="18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Restoration: Widget order restored from saved layout on page load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8408"/>
            <a:ext cx="914400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739128"/>
            <a:ext cx="9144000" cy="73152"/>
          </a:xfrm>
          <a:prstGeom prst="rect">
            <a:avLst/>
          </a:prstGeom>
          <a:solidFill>
            <a:srgbClr val="2E86AB">
              <a:alpha val="5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51560"/>
            <a:ext cx="64008" cy="5623560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850392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Memoization: useMemo (heavy calculations), React.memo (components), useCallback (handlers)</a:t>
            </a:r>
            <a:endParaRPr lang="en-US" sz="18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Splitting: Lazy-loading pages via React Router</a:t>
            </a:r>
            <a:endParaRPr lang="en-US" sz="18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Caching: React Query cache for server data, reducing API calls</a:t>
            </a:r>
            <a:endParaRPr lang="en-US" sz="18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Virtualization: (Optional) For large transaction lists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8408"/>
            <a:ext cx="914400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739128"/>
            <a:ext cx="9144000" cy="73152"/>
          </a:xfrm>
          <a:prstGeom prst="rect">
            <a:avLst/>
          </a:prstGeom>
          <a:solidFill>
            <a:srgbClr val="2E86AB">
              <a:alpha val="5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34840" y="1143000"/>
            <a:ext cx="45720" cy="5394960"/>
          </a:xfrm>
          <a:prstGeom prst="rect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61688" y="3749040"/>
            <a:ext cx="192024" cy="192024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43000"/>
            <a:ext cx="4023360" cy="457200"/>
          </a:xfrm>
          <a:prstGeom prst="rect">
            <a:avLst/>
          </a:prstGeom>
          <a:solidFill>
            <a:srgbClr val="2E86AB">
              <a:alpha val="8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43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&amp; Component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74320" y="1691640"/>
            <a:ext cx="4023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Bef>
                <a:spcPts val="500"/>
              </a:spcBef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for reducers, selectors, aggregations</a:t>
            </a:r>
            <a:endParaRPr lang="en-US" sz="1600" dirty="0"/>
          </a:p>
          <a:p>
            <a:pPr marL="190500" indent="-190500">
              <a:spcBef>
                <a:spcPts val="500"/>
              </a:spcBef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Testing Library for forms &amp; widgets</a:t>
            </a:r>
            <a:endParaRPr lang="en-US" sz="1600" dirty="0"/>
          </a:p>
          <a:p>
            <a:pPr marL="190500" indent="-190500">
              <a:spcBef>
                <a:spcPts val="500"/>
              </a:spcBef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Zod schema success/failure tests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46320" y="1143000"/>
            <a:ext cx="4023360" cy="457200"/>
          </a:xfrm>
          <a:prstGeom prst="rect">
            <a:avLst/>
          </a:prstGeom>
          <a:solidFill>
            <a:srgbClr val="2E86AB">
              <a:alpha val="8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143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e2e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46320" y="1691640"/>
            <a:ext cx="4023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Bef>
                <a:spcPts val="500"/>
              </a:spcBef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+ Supertest for all API endpoints</a:t>
            </a:r>
            <a:endParaRPr lang="en-US" sz="1600" dirty="0"/>
          </a:p>
          <a:p>
            <a:pPr marL="190500" indent="-190500">
              <a:spcBef>
                <a:spcPts val="500"/>
              </a:spcBef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test database</a:t>
            </a:r>
            <a:endParaRPr lang="en-US" sz="1600" dirty="0"/>
          </a:p>
          <a:p>
            <a:pPr marL="190500" indent="-190500">
              <a:spcBef>
                <a:spcPts val="500"/>
              </a:spcBef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Cypress for main user flows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8408"/>
            <a:ext cx="914400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CI/CD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739128"/>
            <a:ext cx="9144000" cy="73152"/>
          </a:xfrm>
          <a:prstGeom prst="rect">
            <a:avLst/>
          </a:prstGeom>
          <a:solidFill>
            <a:srgbClr val="2E86AB">
              <a:alpha val="5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51560"/>
            <a:ext cx="64008" cy="5623560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850392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GitHub Actions (automatic build &amp; deploy)</a:t>
            </a:r>
            <a:endParaRPr lang="en-US" sz="18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Vercel (auto-deploy on main branch push)</a:t>
            </a:r>
            <a:endParaRPr lang="en-US" sz="18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Railway / Heroku (auto-deploy, environment management)</a:t>
            </a:r>
            <a:endParaRPr lang="en-US" sz="18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 Sentry for error tracking (optional)</a:t>
            </a:r>
            <a:endParaRPr lang="en-US" sz="18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Live application accessible online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8408"/>
            <a:ext cx="914400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Results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739128"/>
            <a:ext cx="9144000" cy="73152"/>
          </a:xfrm>
          <a:prstGeom prst="rect">
            <a:avLst/>
          </a:prstGeom>
          <a:solidFill>
            <a:srgbClr val="2E86AB">
              <a:alpha val="5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51560"/>
            <a:ext cx="64008" cy="5623560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850392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Fully functional, production-ready application</a:t>
            </a:r>
            <a:endParaRPr lang="en-US" sz="18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Experience: Full-cycle SPA development — architecture, state, API, visualization, optimization, testing</a:t>
            </a:r>
            <a:endParaRPr lang="en-US" sz="18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Code: Private GitHub repo with detailed documentation</a:t>
            </a:r>
            <a:endParaRPr lang="en-US" sz="18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Extensions: PWA, CSV import, Telegram bot, AI forecasting</a:t>
            </a:r>
            <a:endParaRPr lang="en-US" sz="1800" dirty="0"/>
          </a:p>
          <a:p>
            <a:pPr marL="228600" indent="-228600"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USP: Drag‑and‑drop UX, full-stack TypeScript, real-world daily budgeting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FinDash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FinDash — Personal Budget Analytics Dashboard</dc:title>
  <dc:subject>Full-stack SPA for Financial Control</dc:subject>
  <dc:creator>Full-stack Developer</dc:creator>
  <cp:lastModifiedBy>Full-stack Developer</cp:lastModifiedBy>
  <cp:revision>1</cp:revision>
  <dcterms:created xsi:type="dcterms:W3CDTF">2026-07-25T23:19:33Z</dcterms:created>
  <dcterms:modified xsi:type="dcterms:W3CDTF">2026-07-25T23:19:33Z</dcterms:modified>
</cp:coreProperties>
</file>